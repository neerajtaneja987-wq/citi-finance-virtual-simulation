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4198">
          <p15:clr>
            <a:srgbClr val="A4A3A4"/>
          </p15:clr>
        </p15:guide>
        <p15:guide id="3" orient="horz" pos="2183">
          <p15:clr>
            <a:srgbClr val="A4A3A4"/>
          </p15:clr>
        </p15:guide>
        <p15:guide id="4" orient="horz" pos="3668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pos="7483">
          <p15:clr>
            <a:srgbClr val="A4A3A4"/>
          </p15:clr>
        </p15:guide>
        <p15:guide id="7" pos="180">
          <p15:clr>
            <a:srgbClr val="A4A3A4"/>
          </p15:clr>
        </p15:guide>
        <p15:guide id="8" pos="2819">
          <p15:clr>
            <a:srgbClr val="A4A3A4"/>
          </p15:clr>
        </p15:guide>
        <p15:guide id="9" pos="1935">
          <p15:clr>
            <a:srgbClr val="A4A3A4"/>
          </p15:clr>
        </p15:guide>
        <p15:guide id="10" orient="horz" pos="1003">
          <p15:clr>
            <a:srgbClr val="A4A3A4"/>
          </p15:clr>
        </p15:guide>
        <p15:guide id="11" orient="horz" pos="3770">
          <p15:clr>
            <a:srgbClr val="A4A3A4"/>
          </p15:clr>
        </p15:guide>
        <p15:guide id="12" orient="horz" pos="3374">
          <p15:clr>
            <a:srgbClr val="A4A3A4"/>
          </p15:clr>
        </p15:guide>
        <p15:guide id="13" orient="horz" pos="13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SH5P3bQeL8iuyXydHxe5gfBqT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6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305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6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9300"/>
            <a:ext cx="6623050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6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19" name="Google Shape;19;p6"/>
            <p:cNvSpPr/>
            <p:nvPr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6"/>
            <p:cNvSpPr/>
            <p:nvPr/>
          </p:nvSpPr>
          <p:spPr>
            <a:xfrm rot="10800000">
              <a:off x="774827" y="1382939"/>
              <a:ext cx="6439450" cy="430678"/>
            </a:xfrm>
            <a:custGeom>
              <a:avLst/>
              <a:gdLst/>
              <a:ahLst/>
              <a:cxnLst/>
              <a:rect l="l" t="t" r="r" b="b"/>
              <a:pathLst>
                <a:path w="8064578" h="300814" extrusionOk="0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" name="Google Shape;22;p6"/>
          <p:cNvCxnSpPr/>
          <p:nvPr/>
        </p:nvCxnSpPr>
        <p:spPr>
          <a:xfrm>
            <a:off x="271951" y="3152910"/>
            <a:ext cx="7843073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6"/>
          <p:cNvSpPr/>
          <p:nvPr/>
        </p:nvSpPr>
        <p:spPr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6"/>
          <p:cNvGrpSpPr/>
          <p:nvPr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5" name="Google Shape;25;p6"/>
            <p:cNvSpPr/>
            <p:nvPr/>
          </p:nvSpPr>
          <p:spPr>
            <a:xfrm>
              <a:off x="-540381" y="5887508"/>
              <a:ext cx="8074126" cy="46038"/>
            </a:xfrm>
            <a:custGeom>
              <a:avLst/>
              <a:gdLst/>
              <a:ahLst/>
              <a:cxnLst/>
              <a:rect l="l" t="t" r="r" b="b"/>
              <a:pathLst>
                <a:path w="763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75" cap="flat" cmpd="sng">
              <a:solidFill>
                <a:srgbClr val="63666A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6"/>
            <p:cNvSpPr/>
            <p:nvPr/>
          </p:nvSpPr>
          <p:spPr>
            <a:xfrm>
              <a:off x="7639574" y="5887827"/>
              <a:ext cx="1277774" cy="45719"/>
            </a:xfrm>
            <a:custGeom>
              <a:avLst/>
              <a:gdLst/>
              <a:ahLst/>
              <a:cxnLst/>
              <a:rect l="l" t="t" r="r" b="b"/>
              <a:pathLst>
                <a:path w="1357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75" cap="flat" cmpd="sng">
              <a:solidFill>
                <a:srgbClr val="002D72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800"/>
              <a:buNone/>
              <a:defRPr sz="38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  <a:defRPr sz="20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1" name="Google Shape;11;p5"/>
            <p:cNvSpPr/>
            <p:nvPr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"/>
            <p:cNvSpPr/>
            <p:nvPr/>
          </p:nvSpPr>
          <p:spPr>
            <a:xfrm rot="10800000">
              <a:off x="781049" y="1382736"/>
              <a:ext cx="8853488" cy="458544"/>
            </a:xfrm>
            <a:custGeom>
              <a:avLst/>
              <a:gdLst/>
              <a:ahLst/>
              <a:cxnLst/>
              <a:rect l="l" t="t" r="r" b="b"/>
              <a:pathLst>
                <a:path w="8064578" h="300568" extrusionOk="0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5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115606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800"/>
              <a:buNone/>
            </a:pPr>
            <a:r>
              <a:rPr lang="en-GB" sz="2800" b="1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Monthly Limits &amp; Deposits Tracking Report</a:t>
            </a:r>
            <a:endParaRPr sz="2800" b="1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000"/>
              <a:buNone/>
            </a:pPr>
            <a:r>
              <a:rPr lang="en-GB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Citi Finance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800"/>
              <a:buNone/>
            </a:pPr>
            <a:r>
              <a:rPr lang="en-GB"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March 2023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Executive summary | Country Treasurer &amp; CFO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993" y="3639313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Reporting period: 03 Jan–28 Feb 2023; baseline: 31 Dec 2022.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10 MAT observations; 36 EWT observations (entity-days / trigger types).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Triggers are assessed on daily positions, strictly greater-than / less-than thresholds.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0720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Surplus = deposits − loans; stressed surplus = 90% deposits − 120% loans.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Trigger breach counts by entity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6904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Deposit ↓ &gt;3%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Loan ↑ &gt;5%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Loan &gt;150% LY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Surplus &lt;50% LY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MAT surplus &lt;0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Entity 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Entity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Entity 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Entity 1 | Surplus trend</a:t>
            </a:r>
          </a:p>
        </p:txBody>
      </p:sp>
      <p:pic>
        <p:nvPicPr>
          <p:cNvPr id="5" name="Picture 4" descr="task4_entit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18616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Entity 1 | Position and breaches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5065" y="3547873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31 Dec 2022: deposits $100.00m | loans $70.00m | surplus $30.00m.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28 Feb 2023: deposits $92.95m | loans $112.05m | surplus $-19.10m.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End stressed surplus: $-50.81m; minimum stressed surplus: $-50.81m.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0720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EWT observations: 26; MAT observations: 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Entity 2 | Surplus trend</a:t>
            </a:r>
          </a:p>
        </p:txBody>
      </p:sp>
      <p:pic>
        <p:nvPicPr>
          <p:cNvPr id="5" name="Picture 4" descr="task4_entity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18616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Entity 2 | Position and breaches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47873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31 Dec 2022: deposits $115.00m | loans $50.00m | surplus $65.00m.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28 Feb 2023: deposits $98.83m | loans $66.41m | surplus $32.42m.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End stressed surplus: $9.26m; minimum stressed surplus: $9.26m.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0720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EWT observations: 7; MAT observations: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Entity 3 | Surplus trend</a:t>
            </a:r>
          </a:p>
        </p:txBody>
      </p:sp>
      <p:pic>
        <p:nvPicPr>
          <p:cNvPr id="5" name="Picture 4" descr="task4_entity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18616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Entity 3 | Position and breaches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31 Dec 2022: deposits $250.00m | loans $10.00m | surplus $240.00m.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28 Feb 2023: deposits $299.04m | loans $12.78m | surplus $286.26m.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End stressed surplus: $253.80m; minimum stressed surplus: $203.50m.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0720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EWT observations: 3; MAT observations: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Deposit daily fall | breach detail (1–6)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6904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24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4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20 Jan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Deposit daily fall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-5.00%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24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02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Deposit daily 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4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28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Deposit daily fall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-5.00%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24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24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Deposit daily 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24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28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Deposit daily fall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-4.00%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2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20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Deposit daily 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Loan daily rise | breach detail (1–8)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6904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3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06 Jan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daily rise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+6.00%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13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daily 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17 Jan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daily rise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+6.00%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13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daily 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17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daily rise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+8.00%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21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daily 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02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daily rise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+8.00%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14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daily 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Loan vs Dec 22 | breach detail (1–2)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69040" cy="107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6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27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+55.41%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+50.0%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6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28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Loan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+60.07%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+50.0%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Surplus vs Dec 22 | breach detail (1–13)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69040" cy="4700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02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$10.64m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03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$12.72m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06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$11.25m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07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$13.71m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08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$8.80m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09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$9.63m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10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$8.07m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13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$2.19m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14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$0.30m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15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$-2.47m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16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$-2.47m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71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17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$-4.38m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72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20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$-1.61m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Surplus vs Dec 22 | breach detail (14–20)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6904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21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$-3.51m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22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$-11.14m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23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$-12.38m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24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$-9.61m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27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$-10.95m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28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$-19.10m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15.00m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28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Surplus vs Dec 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$32.42m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32.50m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MAT: negative surplus | breach detail (1–10)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69040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5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15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$-2.47m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16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$-2.47m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17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$-4.38m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20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$-1.61m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21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$-3.51m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22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$-11.14m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23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$-12.38m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24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$-9.61m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4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27 Feb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$-10.95m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50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28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MAT: negative surplus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$-19.10m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52A4B"/>
                          </a:solidFill>
                        </a:defRPr>
                      </a:pPr>
                      <a:r>
                        <a:t>&lt; 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56032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52A4B"/>
                </a:solidFill>
              </a:defRPr>
            </a:pPr>
            <a:r>
              <a:t>Suggested treasury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34" y="3639313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Validate each flagged movement with Deposits &amp; Loans and reconcile unusual day-on-day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For EWT: investigate drivers, concentration, funding and forecast implications; agree mitigants.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For MAT: immediately escalate negative surplus to Country Treasurer / CFO for management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07208"/>
            <a:ext cx="1100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Stressed surplus is shown as an analytical sensitivity; no separate EWT/MAT threshold was provided for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1011</Words>
  <Application>Microsoft Office PowerPoint</Application>
  <PresentationFormat>Widescreen</PresentationFormat>
  <Paragraphs>324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Neeraj Taneja</cp:lastModifiedBy>
  <cp:revision>2</cp:revision>
  <dcterms:created xsi:type="dcterms:W3CDTF">2015-07-20T16:22:45Z</dcterms:created>
  <dcterms:modified xsi:type="dcterms:W3CDTF">2026-10-14T08:19:38Z</dcterms:modified>
</cp:coreProperties>
</file>