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09560" y="118872"/>
            <a:ext cx="4279392" cy="6739128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675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2A4A"/>
                </a:solidFill>
                <a:latin typeface="Aptos Display"/>
              </a:defRPr>
            </a:pPr>
            <a:r>
              <a:t>Impact of Omicron</a:t>
            </a:r>
            <a:br/>
            <a:r>
              <a:t>on Credit Card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08" y="3343132"/>
            <a:ext cx="8006744" cy="3693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1800">
                <a:solidFill>
                  <a:srgbClr val="55606E"/>
                </a:solidFill>
              </a:defRPr>
            </a:pPr>
            <a:r>
              <a:rPr dirty="0"/>
              <a:t>Historical evidence from 2020–2021 and COVID-19 case trends through 1 May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70C0"/>
                </a:solidFill>
              </a:defRPr>
            </a:pPr>
            <a:r>
              <a:t>Prepared for the Executive Committee</a:t>
            </a:r>
            <a:br/>
            <a:r>
              <a:t>Citi Finance | Data analysis and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2344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</a:defRPr>
            </a:pPr>
            <a:r>
              <a:t>2020–21</a:t>
            </a:r>
          </a:p>
          <a:p>
            <a:pPr>
              <a:spcAft>
                <a:spcPts val="2400"/>
              </a:spcAft>
              <a:defRPr sz="1200">
                <a:solidFill>
                  <a:srgbClr val="D2DEEB"/>
                </a:solidFill>
              </a:defRPr>
            </a:pPr>
            <a:r>
              <a:t>Historical spending response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</a:defRPr>
            </a:pPr>
            <a:r>
              <a:t>4 categories</a:t>
            </a:r>
          </a:p>
          <a:p>
            <a:pPr>
              <a:spcAft>
                <a:spcPts val="2400"/>
              </a:spcAft>
              <a:defRPr sz="1200">
                <a:solidFill>
                  <a:srgbClr val="D2DEEB"/>
                </a:solidFill>
              </a:defRPr>
            </a:pPr>
            <a:r>
              <a:t>Delayable • Social • Staples • Work-related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</a:defRPr>
            </a:pPr>
            <a:r>
              <a:t>2022 outlook</a:t>
            </a:r>
          </a:p>
          <a:p>
            <a:pPr>
              <a:spcAft>
                <a:spcPts val="2400"/>
              </a:spcAft>
              <a:defRPr sz="1200">
                <a:solidFill>
                  <a:srgbClr val="D2DEEB"/>
                </a:solidFill>
              </a:defRPr>
            </a:pPr>
            <a:r>
              <a:t>Risk assessment, not a causal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606E"/>
                </a:solidFill>
              </a:defRPr>
            </a:pPr>
            <a:r>
              <a:t>CITI FINANCE  |  OMICRON IMPACT STUDY                                              EXECUTIVE COMMITTEE  • 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A"/>
                </a:solidFill>
                <a:latin typeface="Aptos Display"/>
              </a:defRPr>
            </a:pPr>
            <a:r>
              <a:t>Credit card spending vs. COVID-19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E"/>
                </a:solidFill>
              </a:defRPr>
            </a:pPr>
            <a:r>
              <a:t>Monthly averages of the supplied index series; spending index uses February 2020 = 100.</a:t>
            </a:r>
          </a:p>
        </p:txBody>
      </p:sp>
      <p:pic>
        <p:nvPicPr>
          <p:cNvPr id="6" name="Picture 5" descr="t3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7498079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325880"/>
            <a:ext cx="3474720" cy="4297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A"/>
                </a:solidFill>
              </a:defRPr>
            </a:pPr>
            <a:r>
              <a:t>What the history shows</a:t>
            </a:r>
          </a:p>
          <a:p>
            <a:pPr>
              <a:spcBef>
                <a:spcPts val="1200"/>
              </a:spcBef>
              <a:defRPr sz="1300">
                <a:solidFill>
                  <a:srgbClr val="55606E"/>
                </a:solidFill>
              </a:defRPr>
            </a:pPr>
            <a:r>
              <a:t>• Spending fell sharply during the initial 2020 shock, then recovered through 2021.</a:t>
            </a:r>
          </a:p>
          <a:p>
            <a:pPr>
              <a:spcBef>
                <a:spcPts val="1200"/>
              </a:spcBef>
              <a:defRPr sz="1300">
                <a:solidFill>
                  <a:srgbClr val="55606E"/>
                </a:solidFill>
              </a:defRPr>
            </a:pPr>
            <a:r>
              <a:t>• Case surges did not produce a uniform, sustained decline in total spending.</a:t>
            </a:r>
          </a:p>
          <a:p>
            <a:pPr>
              <a:spcBef>
                <a:spcPts val="1200"/>
              </a:spcBef>
              <a:defRPr sz="1300">
                <a:solidFill>
                  <a:srgbClr val="55606E"/>
                </a:solidFill>
              </a:defRPr>
            </a:pPr>
            <a:r>
              <a:t>• Daily/weekly timing and broader reopening effects matter; a simple correlation is not proof of causation.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606E"/>
                </a:solidFill>
              </a:defRPr>
            </a:pPr>
            <a:r>
              <a:t>CITI FINANCE  |  OMICRON IMPACT STUDY                                              EXECUTIVE COMMITTEE  • 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A"/>
                </a:solidFill>
                <a:latin typeface="Aptos Display"/>
              </a:defRPr>
            </a:pPr>
            <a:r>
              <a:t>Category patterns are not uniform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E"/>
                </a:solidFill>
              </a:defRPr>
            </a:pPr>
            <a:r>
              <a:t>Monthly category spending indices compared with the 7-day average of new COVID-19 cases.</a:t>
            </a:r>
          </a:p>
        </p:txBody>
      </p:sp>
      <p:pic>
        <p:nvPicPr>
          <p:cNvPr id="6" name="Picture 5" descr="t3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7498079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325880"/>
            <a:ext cx="3474720" cy="4297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A"/>
                </a:solidFill>
              </a:defRPr>
            </a:pPr>
            <a:r>
              <a:t>Category takeaways</a:t>
            </a:r>
          </a:p>
          <a:p>
            <a:pPr>
              <a:spcBef>
                <a:spcPts val="800"/>
              </a:spcBef>
              <a:defRPr sz="1200">
                <a:solidFill>
                  <a:srgbClr val="55606E"/>
                </a:solidFill>
              </a:defRPr>
            </a:pPr>
            <a:r>
              <a:t>• Social spending was especially disrupted in 2020 and recovered as activity reopened.</a:t>
            </a:r>
          </a:p>
          <a:p>
            <a:pPr>
              <a:spcBef>
                <a:spcPts val="800"/>
              </a:spcBef>
              <a:defRPr sz="1200">
                <a:solidFill>
                  <a:srgbClr val="55606E"/>
                </a:solidFill>
              </a:defRPr>
            </a:pPr>
            <a:r>
              <a:t>• Staples were comparatively resilient across the period.</a:t>
            </a:r>
          </a:p>
          <a:p>
            <a:pPr>
              <a:spcBef>
                <a:spcPts val="800"/>
              </a:spcBef>
              <a:defRPr sz="1200">
                <a:solidFill>
                  <a:srgbClr val="55606E"/>
                </a:solidFill>
              </a:defRPr>
            </a:pPr>
            <a:r>
              <a:t>• Delayable and work-related spending also rebounded in 2021, despite renewed case waves.</a:t>
            </a:r>
          </a:p>
          <a:p>
            <a:pPr>
              <a:spcBef>
                <a:spcPts val="800"/>
              </a:spcBef>
              <a:defRPr sz="1200">
                <a:solidFill>
                  <a:srgbClr val="55606E"/>
                </a:solidFill>
              </a:defRPr>
            </a:pPr>
            <a:r>
              <a:t>• The relationship varies by category and over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606E"/>
                </a:solidFill>
              </a:defRPr>
            </a:pPr>
            <a:r>
              <a:t>CITI FINANCE  |  OMICRON IMPACT STUDY                                              EXECUTIVE COMMITTEE  • 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A"/>
                </a:solidFill>
                <a:latin typeface="Aptos Display"/>
              </a:defRPr>
            </a:pPr>
            <a:r>
              <a:t>Omicron outlook: downside risk, but not a certain sales decline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E"/>
                </a:solidFill>
              </a:defRPr>
            </a:pPr>
            <a:r>
              <a:t>COVID-19 case data runs through 1 May 2022; card-spending observations in this file end on 31 December 2021.</a:t>
            </a:r>
          </a:p>
        </p:txBody>
      </p:sp>
      <p:pic>
        <p:nvPicPr>
          <p:cNvPr id="6" name="Picture 5" descr="t3_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704088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234440"/>
            <a:ext cx="3840480" cy="43434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4630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A4A"/>
                </a:solidFill>
              </a:defRPr>
            </a:pPr>
            <a:r>
              <a:t>Executive view</a:t>
            </a:r>
          </a:p>
          <a:p>
            <a:pPr>
              <a:spcBef>
                <a:spcPts val="700"/>
              </a:spcBef>
              <a:defRPr sz="1150">
                <a:solidFill>
                  <a:srgbClr val="55606E"/>
                </a:solidFill>
              </a:defRPr>
            </a:pPr>
            <a:r>
              <a:t>• Omicron’s sharp case wave creates a plausible risk of softer discretionary and social spending if restrictions or voluntary distancing intensify.</a:t>
            </a:r>
          </a:p>
          <a:p>
            <a:pPr>
              <a:spcBef>
                <a:spcPts val="700"/>
              </a:spcBef>
              <a:defRPr sz="1150">
                <a:solidFill>
                  <a:srgbClr val="55606E"/>
                </a:solidFill>
              </a:defRPr>
            </a:pPr>
            <a:r>
              <a:t>• Staples may be more resilient; category mix is likely to matter more than total spend alone.</a:t>
            </a:r>
          </a:p>
          <a:p>
            <a:pPr>
              <a:spcBef>
                <a:spcPts val="700"/>
              </a:spcBef>
              <a:defRPr sz="1150">
                <a:solidFill>
                  <a:srgbClr val="55606E"/>
                </a:solidFill>
              </a:defRPr>
            </a:pPr>
            <a:r>
              <a:t>• Historical data does not establish a consistent one-for-one link between case counts and spending.</a:t>
            </a:r>
          </a:p>
          <a:p>
            <a:pPr>
              <a:spcBef>
                <a:spcPts val="700"/>
              </a:spcBef>
              <a:defRPr sz="1150">
                <a:solidFill>
                  <a:srgbClr val="55606E"/>
                </a:solidFill>
              </a:defRPr>
            </a:pPr>
            <a:r>
              <a:t>• Recommendation: use a downside scenario, monitor weekly category trends, and update forecasts as 2022 spending data arrives.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349240"/>
            <a:ext cx="6903720" cy="658368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6537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Bottom line: Omicron could affect sales, but the size and duration are uncertain.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5715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606E"/>
                </a:solidFill>
              </a:defRPr>
            </a:pPr>
            <a:r>
              <a:t>Data limitation: supplied spending series ends Dec 2021.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606E"/>
                </a:solidFill>
              </a:defRPr>
            </a:pPr>
            <a:r>
              <a:t>CITI FINANCE  |  OMICRON IMPACT STUDY                                              EXECUTIVE COMMITTEE  • 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380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Neeraj Taneja</cp:lastModifiedBy>
  <cp:revision>2</cp:revision>
  <dcterms:created xsi:type="dcterms:W3CDTF">2013-01-27T09:14:16Z</dcterms:created>
  <dcterms:modified xsi:type="dcterms:W3CDTF">2026-10-13T13:55:30Z</dcterms:modified>
  <cp:category/>
</cp:coreProperties>
</file>