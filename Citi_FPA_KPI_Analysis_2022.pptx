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8"/>
    <p:sldId id="260" r:id="rId7"/>
    <p:sldId id="261" r:id="rId6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oAJJHgtH1EsXjwJdKg9dXAIC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>
        <p:scale>
          <a:sx n="120" d="100"/>
          <a:sy n="120" d="100"/>
        </p:scale>
        <p:origin x="256" y="72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customschemas.google.com/relationships/presentationmetadata" Target="meta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9300"/>
            <a:ext cx="6623050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9" name="Google Shape;19;p5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avLst/>
              <a:gdLst/>
              <a:ahLst/>
              <a:cxnLst/>
              <a:rect l="l" t="t" r="r" b="b"/>
              <a:pathLst>
                <a:path w="8064578" h="300814" extrusionOk="0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22;p5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5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5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5" name="Google Shape;25;p5"/>
            <p:cNvSpPr/>
            <p:nvPr/>
          </p:nvSpPr>
          <p:spPr>
            <a:xfrm>
              <a:off x="-540381" y="5887508"/>
              <a:ext cx="8074126" cy="46038"/>
            </a:xfrm>
            <a:custGeom>
              <a:avLst/>
              <a:gdLst/>
              <a:ahLst/>
              <a:cxnLst/>
              <a:rect l="l" t="t" r="r" b="b"/>
              <a:pathLst>
                <a:path w="763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75" cap="flat" cmpd="sng">
              <a:solidFill>
                <a:srgbClr val="63666A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7639574" y="5887827"/>
              <a:ext cx="1277774" cy="45719"/>
            </a:xfrm>
            <a:custGeom>
              <a:avLst/>
              <a:gdLst/>
              <a:ahLst/>
              <a:cxnLst/>
              <a:rect l="l" t="t" r="r" b="b"/>
              <a:pathLst>
                <a:path w="1357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75" cap="flat" cmpd="sng">
              <a:solidFill>
                <a:srgbClr val="002D7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4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avLst/>
              <a:gdLst/>
              <a:ahLst/>
              <a:cxnLst/>
              <a:rect l="l" t="t" r="r" b="b"/>
              <a:pathLst>
                <a:path w="8064578" h="300568" extrusionOk="0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115606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Annual Operating Plan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1800"/>
              <a:buNone/>
            </a:pP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400"/>
              <a:buNone/>
            </a:pPr>
            <a:r>
              <a:rPr lang="en-GB" sz="14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April 6, 2023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Financial Forecast to 31 Dec ’22</a:t>
            </a:r>
            <a:endParaRPr sz="2000"/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313" y="1309258"/>
            <a:ext cx="5049374" cy="1326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Financial Forecast to 31 Dec ’22 (cont.)</a:t>
            </a:r>
            <a:endParaRPr sz="2000"/>
          </a:p>
        </p:txBody>
      </p:sp>
      <p:sp>
        <p:nvSpPr>
          <p:cNvPr id="51" name="Google Shape;51;p3"/>
          <p:cNvSpPr txBox="1"/>
          <p:nvPr/>
        </p:nvSpPr>
        <p:spPr>
          <a:xfrm>
            <a:off x="630444" y="3061783"/>
            <a:ext cx="11415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9266" y="1243695"/>
            <a:ext cx="4473468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/>
        </p:nvSpPr>
        <p:spPr>
          <a:xfrm>
            <a:off x="8410575" y="2527071"/>
            <a:ext cx="3048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Includes credit reserve build / (release) for loans and provision for credit losses on unfunded lending commitments.</a:t>
            </a:r>
            <a:b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Includes provisions for policyholder benefits and claims, HTM debt securities and other assets.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Citi consolidated forecast | 2022 estimate vs. 2021 actual | $ millions unless stated otherwise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651760" cy="132588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32588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REVENUE</a:t>
            </a:r>
          </a:p>
          <a:p>
            <a:pPr>
              <a:spcAft>
                <a:spcPts val="400"/>
              </a:spcAft>
              <a:defRPr sz="2300" b="1">
                <a:solidFill>
                  <a:srgbClr val="0066B3"/>
                </a:solidFill>
                <a:latin typeface="Arial"/>
              </a:defRPr>
            </a:pPr>
            <a:r>
              <a:t>$18.0bn  |  +6%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Higher net interest income and strong Services / Fixed Income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234440"/>
            <a:ext cx="2651760" cy="132588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234440"/>
            <a:ext cx="82296" cy="1325880"/>
          </a:xfrm>
          <a:prstGeom prst="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44168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OPERATING EXPENSES</a:t>
            </a:r>
          </a:p>
          <a:p>
            <a:pPr>
              <a:spcAft>
                <a:spcPts val="400"/>
              </a:spcAft>
              <a:defRPr sz="2300" b="1">
                <a:solidFill>
                  <a:srgbClr val="007850"/>
                </a:solidFill>
                <a:latin typeface="Arial"/>
              </a:defRPr>
            </a:pPr>
            <a:r>
              <a:t>$13.0bn  |  −4%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Lower costs, mainly reflecting fewer prior-year Legacy Franchises divestiture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2651760" cy="132588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82296" cy="132588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44168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COST OF CREDIT</a:t>
            </a:r>
          </a:p>
          <a:p>
            <a:pPr>
              <a:spcAft>
                <a:spcPts val="400"/>
              </a:spcAft>
              <a:defRPr sz="2300" b="1">
                <a:solidFill>
                  <a:srgbClr val="B43232"/>
                </a:solidFill>
                <a:latin typeface="Arial"/>
              </a:defRPr>
            </a:pPr>
            <a:r>
              <a:t>$1.85bn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Moved from a $465m benefit in 2021 to a cost in 2022.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234440"/>
            <a:ext cx="2423160" cy="132588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9720" y="1234440"/>
            <a:ext cx="82296" cy="132588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344168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NET INCOME</a:t>
            </a:r>
          </a:p>
          <a:p>
            <a:pPr>
              <a:spcAft>
                <a:spcPts val="400"/>
              </a:spcAft>
              <a:defRPr sz="2300" b="1">
                <a:solidFill>
                  <a:srgbClr val="B43232"/>
                </a:solidFill>
                <a:latin typeface="Arial"/>
              </a:defRPr>
            </a:pPr>
            <a:r>
              <a:t>$2.51bn  |  −21%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Credit costs outweighed revenue growth and expense reductions.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80360"/>
            <a:ext cx="539496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90088"/>
            <a:ext cx="5074920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What drove the year?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Revenue increased $989m (+5.8%) to $18.0bn.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Operating expenses declined $547m (−4.0%) to $13.0bn.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Total cost of credit deteriorated by $2.31bn versus 2021, when Citi recorded a net benefit.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Net income fell $660m (−20.8%) to $2.51bn.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34924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990088"/>
            <a:ext cx="5029200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Management takeaway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Revenue momentum was positive, especially from higher interest rates.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Credit normalization and a less favorable allowance position were the largest earnings headwinds.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Legacy Franchises expense reductions and Corporate/Other improvement partly offset pressure elsewhere.</a:t>
            </a:r>
          </a:p>
          <a:p>
            <a:pPr>
              <a:spcBef>
                <a:spcPts val="700"/>
              </a:spcBef>
              <a:defRPr sz="1300">
                <a:solidFill>
                  <a:srgbClr val="4B555F"/>
                </a:solidFill>
                <a:latin typeface="Arial"/>
              </a:defRPr>
            </a:pPr>
            <a:r>
              <a:t>Priority: sustain revenue growth while managing credit quality and transformation spending.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5F"/>
                </a:solidFill>
                <a:latin typeface="Arial"/>
              </a:defRPr>
            </a:pPr>
            <a:r>
              <a:t>Citi Finance | 2022 forecast analysis | Forage simulation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Revenue and operating expenses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Growth in net interest income supported revenue; cost reduction was concentrated in Legacy Franchises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291840" cy="123444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82296" cy="123444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527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TOTAL REVENUE</a:t>
            </a:r>
          </a:p>
          <a:p>
            <a:pPr>
              <a:spcAft>
                <a:spcPts val="400"/>
              </a:spcAft>
              <a:defRPr sz="2300" b="1">
                <a:solidFill>
                  <a:srgbClr val="0066B3"/>
                </a:solidFill>
                <a:latin typeface="Arial"/>
              </a:defRPr>
            </a:pPr>
            <a:r>
              <a:t>$18,006m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vs. $17,017m in 2021 (+5.8%)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143000"/>
            <a:ext cx="3291840" cy="123444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143000"/>
            <a:ext cx="82296" cy="1234440"/>
          </a:xfrm>
          <a:prstGeom prst="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527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NET INTEREST INCOME</a:t>
            </a:r>
          </a:p>
          <a:p>
            <a:pPr>
              <a:spcAft>
                <a:spcPts val="400"/>
              </a:spcAft>
              <a:defRPr sz="2300" b="1">
                <a:solidFill>
                  <a:srgbClr val="007850"/>
                </a:solidFill>
                <a:latin typeface="Arial"/>
              </a:defRPr>
            </a:pPr>
            <a:r>
              <a:t>$13,270m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vs. $10,819m in 2021 (+22.7%)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43000"/>
            <a:ext cx="3291840" cy="123444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143000"/>
            <a:ext cx="82296" cy="1234440"/>
          </a:xfrm>
          <a:prstGeom prst="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527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OPERATING EXPENSES</a:t>
            </a:r>
          </a:p>
          <a:p>
            <a:pPr>
              <a:spcAft>
                <a:spcPts val="400"/>
              </a:spcAft>
              <a:defRPr sz="2300" b="1">
                <a:solidFill>
                  <a:srgbClr val="007850"/>
                </a:solidFill>
                <a:latin typeface="Arial"/>
              </a:defRPr>
            </a:pPr>
            <a:r>
              <a:t>$12,985m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vs. $13,532m in 2021 (−4.0%)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534924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807208"/>
            <a:ext cx="5029200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Revenue drivers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Institutional Clients Group: $9.16bn, up 3%; strength in Treasury &amp; Trade Solutions, Securities Services and Fixed Income Markets.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Personal Banking &amp; Wealth Management: $6.10bn, up 5%; higher interest income from loan growth and higher rates.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Legacy Franchises: $2.05bn, down 6%, reflecting exit-market wind-downs.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Corporate/Other: $699m vs. $131m, helped by higher investment-portfolio net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34924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807208"/>
            <a:ext cx="5029200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Expense drivers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Total operating expenses fell $547m year over year.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Legacy Franchises expenses fell 38% to $1.83bn, mainly due to the absence of $1.2bn of prior-year divestiture-related costs and exit-market benefits.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ICG expenses rose 6% from transformation, business-led investment and volume-related costs.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PBWM expenses rose 7%, primarily due to transformation investments and risk/control initiatives.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5F"/>
                </a:solidFill>
                <a:latin typeface="Arial"/>
              </a:defRPr>
            </a:pPr>
            <a:r>
              <a:t>Citi Finance | 2022 forecast analysis | Forage simulation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Cost of credit and net 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Credit costs were the principal driver of the decline in consolidated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291840" cy="123444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82296" cy="123444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527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NET CREDIT LOSSES</a:t>
            </a:r>
          </a:p>
          <a:p>
            <a:pPr>
              <a:spcAft>
                <a:spcPts val="400"/>
              </a:spcAft>
              <a:defRPr sz="2300" b="1">
                <a:solidFill>
                  <a:srgbClr val="B43232"/>
                </a:solidFill>
                <a:latin typeface="Arial"/>
              </a:defRPr>
            </a:pPr>
            <a:r>
              <a:t>$1,180m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Up 36% from $866m in 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143000"/>
            <a:ext cx="3291840" cy="123444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143000"/>
            <a:ext cx="82296" cy="123444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527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TOTAL COST OF CREDIT</a:t>
            </a:r>
          </a:p>
          <a:p>
            <a:pPr>
              <a:spcAft>
                <a:spcPts val="400"/>
              </a:spcAft>
              <a:defRPr sz="2300" b="1">
                <a:solidFill>
                  <a:srgbClr val="B43232"/>
                </a:solidFill>
                <a:latin typeface="Arial"/>
              </a:defRPr>
            </a:pPr>
            <a:r>
              <a:t>$1,845m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vs. a $465m benefit in 2021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43000"/>
            <a:ext cx="3291840" cy="1234440"/>
          </a:xfrm>
          <a:prstGeom prst="rect">
            <a:avLst/>
          </a:prstGeom>
          <a:solidFill>
            <a:srgbClr val="E8F1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143000"/>
            <a:ext cx="82296" cy="123444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527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5F"/>
                </a:solidFill>
                <a:latin typeface="Arial"/>
              </a:defRPr>
            </a:pPr>
            <a:r>
              <a:t>CITIGROUP NET INCOME</a:t>
            </a:r>
          </a:p>
          <a:p>
            <a:pPr>
              <a:spcAft>
                <a:spcPts val="400"/>
              </a:spcAft>
              <a:defRPr sz="2300" b="1">
                <a:solidFill>
                  <a:srgbClr val="B43232"/>
                </a:solidFill>
                <a:latin typeface="Arial"/>
              </a:defRPr>
            </a:pPr>
            <a:r>
              <a:t>$2,513m</a:t>
            </a:r>
          </a:p>
          <a:p>
            <a:pPr>
              <a:defRPr sz="1000">
                <a:solidFill>
                  <a:srgbClr val="4B555F"/>
                </a:solidFill>
                <a:latin typeface="Arial"/>
              </a:defRPr>
            </a:pPr>
            <a:r>
              <a:t>Down 20.8% from $3,173m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534924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807208"/>
            <a:ext cx="5029200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Why cost of credit increased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Net allowance for credit losses (ACL) moved from a $1.369bn release in 2021 to a $640m build in 2022.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PBWM recorded a $752m net ACL build in Q4, driven by card-volume growth and weaker macroeconomic assumptions.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PBWM net credit losses increased 60% to $908m as losses normalized, particularly in Retail Services.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ICG recorded a $56m cost of credit; Legacy Franchises recorded $123m.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34924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807208"/>
            <a:ext cx="5029200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Impact on earnings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Income from continuing operations before tax declined 20% to $3.18bn.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Income from continuing operations fell 20% to $2.54bn.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ICG net income fell 18% to $1.92bn; PBWM fell 93% to $114m.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Legacy Franchises improved from a prior-year loss to about $75m income; Corporate/Other improved to $431m income.</a:t>
            </a:r>
          </a:p>
          <a:p>
            <a:pPr>
              <a:spcBef>
                <a:spcPts val="700"/>
              </a:spcBef>
              <a:defRPr sz="1100">
                <a:solidFill>
                  <a:srgbClr val="4B555F"/>
                </a:solidFill>
                <a:latin typeface="Arial"/>
              </a:defRPr>
            </a:pPr>
            <a:r>
              <a:t>Revenue growth and lower expenses were not enough to offset the credit-cost swing.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5F"/>
                </a:solidFill>
                <a:latin typeface="Arial"/>
              </a:defRPr>
            </a:pPr>
            <a:r>
              <a:t>Citi Finance | 2022 forecast analysis | Forage simulation |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Macintosh PowerPoint</Application>
  <PresentationFormat>Widescreen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Financial Forecast to 31 Dec ’22</vt:lpstr>
      <vt:lpstr>Financial Forecast to 31 Dec ’22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1</cp:revision>
  <dcterms:created xsi:type="dcterms:W3CDTF">2015-07-20T16:22:45Z</dcterms:created>
  <dcterms:modified xsi:type="dcterms:W3CDTF">2023-06-01T15:23:45Z</dcterms:modified>
</cp:coreProperties>
</file>